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webp" ContentType="image/webp"/>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3"/>
    <p:sldId id="262" r:id="rId4"/>
    <p:sldId id="263" r:id="rId5"/>
    <p:sldId id="264" r:id="rId6"/>
    <p:sldId id="268" r:id="rId7"/>
    <p:sldId id="270" r:id="rId8"/>
    <p:sldId id="272" r:id="rId9"/>
    <p:sldId id="256" r:id="rId10"/>
    <p:sldId id="257" r:id="rId11"/>
    <p:sldId id="258" r:id="rId12"/>
    <p:sldId id="260"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45"/>
    <a:srgbClr val="FFC759"/>
    <a:srgbClr val="4E02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4" name="Picture 3"/>
          <p:cNvPicPr/>
          <p:nvPr/>
        </p:nvPicPr>
        <p:blipFill>
          <a:blip r:embed="rId1"/>
          <a:stretch>
            <a:fillRect/>
          </a:stretch>
        </p:blipFill>
        <p:spPr>
          <a:xfrm>
            <a:off x="0" y="0"/>
            <a:ext cx="12192635" cy="6857365"/>
          </a:xfrm>
          <a:prstGeom prst="rect">
            <a:avLst/>
          </a:prstGeom>
        </p:spPr>
      </p:pic>
      <p:sp>
        <p:nvSpPr>
          <p:cNvPr id="7" name="Rectangles 6"/>
          <p:cNvSpPr/>
          <p:nvPr/>
        </p:nvSpPr>
        <p:spPr>
          <a:xfrm>
            <a:off x="-20320" y="-16510"/>
            <a:ext cx="12211685" cy="6850380"/>
          </a:xfrm>
          <a:prstGeom prst="rect">
            <a:avLst/>
          </a:prstGeom>
          <a:solidFill>
            <a:schemeClr val="tx1">
              <a:alpha val="5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ext Box 8"/>
          <p:cNvSpPr txBox="1"/>
          <p:nvPr/>
        </p:nvSpPr>
        <p:spPr>
          <a:xfrm>
            <a:off x="769620" y="1564640"/>
            <a:ext cx="10433685" cy="2861310"/>
          </a:xfrm>
          <a:prstGeom prst="rect">
            <a:avLst/>
          </a:prstGeom>
          <a:noFill/>
        </p:spPr>
        <p:txBody>
          <a:bodyPr wrap="square" rtlCol="0">
            <a:spAutoFit/>
          </a:bodyPr>
          <a:p>
            <a:r>
              <a:rPr lang="en-US" sz="18000" b="1">
                <a:ln/>
                <a:solidFill>
                  <a:schemeClr val="bg1"/>
                </a:solidFill>
                <a:effectLst>
                  <a:outerShdw blurRad="38100" dist="38100" dir="2700000" algn="tl">
                    <a:srgbClr val="000000">
                      <a:alpha val="43137"/>
                    </a:srgbClr>
                  </a:outerShdw>
                </a:effectLst>
                <a:latin typeface="Arial Black" panose="020B0A04020102020204" charset="0"/>
                <a:cs typeface="Arial Black" panose="020B0A04020102020204" charset="0"/>
              </a:rPr>
              <a:t>NHÓM 4</a:t>
            </a:r>
            <a:endParaRPr lang="en-US" sz="18000" b="1">
              <a:ln/>
              <a:solidFill>
                <a:schemeClr val="bg1"/>
              </a:solidFill>
              <a:effectLst>
                <a:outerShdw blurRad="38100" dist="38100" dir="2700000" algn="tl">
                  <a:srgbClr val="000000">
                    <a:alpha val="43137"/>
                  </a:srgbClr>
                </a:outerShdw>
              </a:effectLst>
              <a:latin typeface="Arial Black" panose="020B0A04020102020204" charset="0"/>
              <a:cs typeface="Arial Black" panose="020B0A040201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4" name="Picture 3"/>
          <p:cNvPicPr/>
          <p:nvPr/>
        </p:nvPicPr>
        <p:blipFill>
          <a:blip r:embed="rId1"/>
          <a:stretch>
            <a:fillRect/>
          </a:stretch>
        </p:blipFill>
        <p:spPr>
          <a:xfrm>
            <a:off x="0" y="0"/>
            <a:ext cx="12192635" cy="6857365"/>
          </a:xfrm>
          <a:prstGeom prst="rect">
            <a:avLst/>
          </a:prstGeom>
        </p:spPr>
      </p:pic>
      <p:sp>
        <p:nvSpPr>
          <p:cNvPr id="7" name="Rectangles 6"/>
          <p:cNvSpPr/>
          <p:nvPr/>
        </p:nvSpPr>
        <p:spPr>
          <a:xfrm>
            <a:off x="-20320" y="-16510"/>
            <a:ext cx="12211685" cy="6850380"/>
          </a:xfrm>
          <a:prstGeom prst="rect">
            <a:avLst/>
          </a:prstGeom>
          <a:solidFill>
            <a:schemeClr val="tx1">
              <a:alpha val="5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ext Box 8"/>
          <p:cNvSpPr txBox="1"/>
          <p:nvPr/>
        </p:nvSpPr>
        <p:spPr>
          <a:xfrm>
            <a:off x="247650" y="2564130"/>
            <a:ext cx="7594600" cy="1689735"/>
          </a:xfrm>
          <a:prstGeom prst="rect">
            <a:avLst/>
          </a:prstGeom>
          <a:noFill/>
        </p:spPr>
        <p:txBody>
          <a:bodyPr wrap="square" rtlCol="0">
            <a:noAutofit/>
          </a:bodyPr>
          <a:p>
            <a:r>
              <a:rPr lang="en-US" sz="12000" b="1">
                <a:ln w="12700" cmpd="sng">
                  <a:solidFill>
                    <a:schemeClr val="tx1"/>
                  </a:solidFill>
                  <a:prstDash val="solid"/>
                </a:ln>
                <a:solidFill>
                  <a:schemeClr val="bg1"/>
                </a:solidFill>
                <a:effectLst>
                  <a:outerShdw blurRad="38100" dist="38100" dir="2700000" algn="tl">
                    <a:srgbClr val="000000">
                      <a:alpha val="43137"/>
                    </a:srgbClr>
                  </a:outerShdw>
                </a:effectLst>
                <a:latin typeface="Arial Black" panose="020B0A04020102020204" charset="0"/>
                <a:cs typeface="Arial Black" panose="020B0A04020102020204" charset="0"/>
              </a:rPr>
              <a:t>NHÓM 4</a:t>
            </a:r>
            <a:endParaRPr lang="en-US" sz="12000" b="1">
              <a:ln w="12700" cmpd="sng">
                <a:solidFill>
                  <a:schemeClr val="tx1"/>
                </a:solidFill>
                <a:prstDash val="solid"/>
              </a:ln>
              <a:solidFill>
                <a:schemeClr val="bg1"/>
              </a:solidFill>
              <a:effectLst>
                <a:outerShdw blurRad="38100" dist="38100" dir="2700000" algn="tl">
                  <a:srgbClr val="000000">
                    <a:alpha val="43137"/>
                  </a:srgbClr>
                </a:outerShdw>
              </a:effectLst>
              <a:latin typeface="Arial Black" panose="020B0A04020102020204" charset="0"/>
              <a:cs typeface="Arial Black" panose="020B0A04020102020204" charset="0"/>
            </a:endParaRPr>
          </a:p>
        </p:txBody>
      </p:sp>
      <p:sp>
        <p:nvSpPr>
          <p:cNvPr id="5" name="Text Box 4"/>
          <p:cNvSpPr txBox="1"/>
          <p:nvPr/>
        </p:nvSpPr>
        <p:spPr>
          <a:xfrm>
            <a:off x="6967220" y="819150"/>
            <a:ext cx="5126990" cy="7284085"/>
          </a:xfrm>
          <a:prstGeom prst="rect">
            <a:avLst/>
          </a:prstGeom>
          <a:noFill/>
        </p:spPr>
        <p:txBody>
          <a:bodyPr wrap="square" rtlCol="0">
            <a:noAutofit/>
          </a:bodyPr>
          <a:p>
            <a:pPr algn="ctr"/>
            <a:r>
              <a:rPr lang="en-US" sz="4000" b="1" i="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Gồm các thành viên:</a:t>
            </a:r>
            <a:endParaRPr lang="en-US" sz="4000" b="1" i="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Lê Thị Yến Trang</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Thân Thị Thúy Trâm</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Hồ Văn Sĩ Phú</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Nguyễn Viết Hoàng Phú</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Hồ Hà Thị Thùy Trang</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Nguyễn Ngọc Bảo Thy </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Tôn Thất Vĩnh Long</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Đỗ Văn Mạnh</a:t>
            </a:r>
            <a:b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b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Nguyễn Phước Bảo Nguyên</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Trần Thị Uyên Châu</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a:p>
            <a:pPr algn="ctr"/>
            <a:r>
              <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rPr>
              <a:t>Nguyễn Văn Quốc An</a:t>
            </a:r>
            <a:endParaRPr lang="en-US" sz="2800" b="1">
              <a:ln w="12700" cmpd="sng">
                <a:noFill/>
                <a:prstDash val="solid"/>
              </a:ln>
              <a:solidFill>
                <a:schemeClr val="bg1"/>
              </a:solidFill>
              <a:effectLst>
                <a:outerShdw blurRad="38100" dist="38100" dir="2700000" algn="tl">
                  <a:srgbClr val="000000">
                    <a:alpha val="43137"/>
                  </a:srgbClr>
                </a:outerShdw>
              </a:effectLst>
              <a:latin typeface="Bahnschrift" panose="020B0502040204020203" charset="0"/>
              <a:cs typeface="Bahnschrift" panose="020B0502040204020203"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grpId="0" nodeType="withEffect">
                                  <p:stCondLst>
                                    <p:cond delay="0"/>
                                  </p:stCondLst>
                                  <p:childTnLst>
                                    <p:set>
                                      <p:cBhvr>
                                        <p:cTn id="6" dur="8000" fill="hold">
                                          <p:stCondLst>
                                            <p:cond delay="0"/>
                                          </p:stCondLst>
                                        </p:cTn>
                                        <p:tgtEl>
                                          <p:spTgt spid="5"/>
                                        </p:tgtEl>
                                        <p:attrNameLst>
                                          <p:attrName>style.visibility</p:attrName>
                                        </p:attrNameLst>
                                      </p:cBhvr>
                                      <p:to>
                                        <p:strVal val="visible"/>
                                      </p:to>
                                    </p:set>
                                    <p:anim calcmode="lin" valueType="num">
                                      <p:cBhvr additive="base">
                                        <p:cTn id="7" dur="8000" fill="hold"/>
                                        <p:tgtEl>
                                          <p:spTgt spid="5"/>
                                        </p:tgtEl>
                                        <p:attrNameLst>
                                          <p:attrName>ppt_x</p:attrName>
                                        </p:attrNameLst>
                                      </p:cBhvr>
                                      <p:tavLst>
                                        <p:tav tm="0">
                                          <p:val>
                                            <p:strVal val="#ppt_x"/>
                                          </p:val>
                                        </p:tav>
                                        <p:tav tm="100000">
                                          <p:val>
                                            <p:strVal val="#ppt_x"/>
                                          </p:val>
                                        </p:tav>
                                      </p:tavLst>
                                    </p:anim>
                                    <p:anim calcmode="lin" valueType="num">
                                      <p:cBhvr additive="base">
                                        <p:cTn id="8" dur="8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8" name="Picture 7"/>
          <p:cNvPicPr/>
          <p:nvPr/>
        </p:nvPicPr>
        <p:blipFill>
          <a:blip r:embed="rId1"/>
          <a:stretch>
            <a:fillRect/>
          </a:stretch>
        </p:blipFill>
        <p:spPr>
          <a:xfrm>
            <a:off x="0" y="0"/>
            <a:ext cx="12191365" cy="6858635"/>
          </a:xfrm>
          <a:prstGeom prst="rect">
            <a:avLst/>
          </a:prstGeom>
        </p:spPr>
      </p:pic>
      <p:sp>
        <p:nvSpPr>
          <p:cNvPr id="10" name="Text Box 9"/>
          <p:cNvSpPr txBox="1"/>
          <p:nvPr/>
        </p:nvSpPr>
        <p:spPr>
          <a:xfrm>
            <a:off x="624840" y="1766570"/>
            <a:ext cx="11091545" cy="4955540"/>
          </a:xfrm>
          <a:prstGeom prst="rect">
            <a:avLst/>
          </a:prstGeom>
          <a:noFill/>
        </p:spPr>
        <p:txBody>
          <a:bodyPr wrap="square" rtlCol="0">
            <a:noAutofit/>
          </a:bodyPr>
          <a:p>
            <a:pPr algn="ctr"/>
            <a:r>
              <a:rPr lang="en-US" altLang="en-US" sz="8000">
                <a:latin typeface="Bahnschrift" panose="020B0502040204020203" charset="0"/>
                <a:cs typeface="Bahnschrift" panose="020B0502040204020203" charset="0"/>
              </a:rPr>
              <a:t>V. TRUYỀN LỰC CH</a:t>
            </a:r>
            <a:r>
              <a:rPr lang="" altLang="en-US" sz="8000">
                <a:latin typeface="Bahnschrift" panose="020B0502040204020203" charset="0"/>
                <a:cs typeface="Bahnschrift" panose="020B0502040204020203" charset="0"/>
              </a:rPr>
              <a:t>Í</a:t>
            </a:r>
            <a:r>
              <a:rPr lang="en-US" altLang="en-US" sz="8000">
                <a:latin typeface="Bahnschrift" panose="020B0502040204020203" charset="0"/>
                <a:cs typeface="Bahnschrift" panose="020B0502040204020203" charset="0"/>
              </a:rPr>
              <a:t>NH, VI SAI V</a:t>
            </a:r>
            <a:r>
              <a:rPr lang="" altLang="en-US" sz="8000">
                <a:latin typeface="Bahnschrift" panose="020B0502040204020203" charset="0"/>
                <a:cs typeface="Bahnschrift" panose="020B0502040204020203" charset="0"/>
              </a:rPr>
              <a:t>À</a:t>
            </a:r>
            <a:r>
              <a:rPr lang="en-US" altLang="en-US" sz="8000">
                <a:latin typeface="Bahnschrift" panose="020B0502040204020203" charset="0"/>
                <a:cs typeface="Bahnschrift" panose="020B0502040204020203" charset="0"/>
              </a:rPr>
              <a:t> B</a:t>
            </a:r>
            <a:r>
              <a:rPr lang="" altLang="en-US" sz="8000">
                <a:latin typeface="Bahnschrift" panose="020B0502040204020203" charset="0"/>
                <a:cs typeface="Bahnschrift" panose="020B0502040204020203" charset="0"/>
              </a:rPr>
              <a:t>Á</a:t>
            </a:r>
            <a:r>
              <a:rPr lang="en-US" altLang="en-US" sz="8000">
                <a:latin typeface="Bahnschrift" panose="020B0502040204020203" charset="0"/>
                <a:cs typeface="Bahnschrift" panose="020B0502040204020203" charset="0"/>
              </a:rPr>
              <a:t>N TRỤC</a:t>
            </a:r>
            <a:endParaRPr lang="en-US" altLang="en-US" sz="8000">
              <a:latin typeface="Bahnschrift" panose="020B0502040204020203" charset="0"/>
              <a:cs typeface="Bahnschrift" panose="020B0502040204020203"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8" name="Picture 7"/>
          <p:cNvPicPr/>
          <p:nvPr/>
        </p:nvPicPr>
        <p:blipFill>
          <a:blip r:embed="rId1"/>
          <a:stretch>
            <a:fillRect/>
          </a:stretch>
        </p:blipFill>
        <p:spPr>
          <a:xfrm>
            <a:off x="0" y="0"/>
            <a:ext cx="12191365" cy="6858635"/>
          </a:xfrm>
          <a:prstGeom prst="rect">
            <a:avLst/>
          </a:prstGeom>
        </p:spPr>
      </p:pic>
      <p:sp>
        <p:nvSpPr>
          <p:cNvPr id="10" name="Text Box 9"/>
          <p:cNvSpPr txBox="1"/>
          <p:nvPr/>
        </p:nvSpPr>
        <p:spPr>
          <a:xfrm>
            <a:off x="992505" y="871220"/>
            <a:ext cx="10347960" cy="4787265"/>
          </a:xfrm>
          <a:prstGeom prst="rect">
            <a:avLst/>
          </a:prstGeom>
          <a:noFill/>
        </p:spPr>
        <p:txBody>
          <a:bodyPr wrap="square" rtlCol="0">
            <a:noAutofit/>
          </a:bodyPr>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rPr>
              <a:t>V. TRUYỀN LỰC CHÍNH, VI SAI VÀ BÁN TRỤC</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p:txBody>
      </p:sp>
      <p:sp>
        <p:nvSpPr>
          <p:cNvPr id="5" name="Text Box 4"/>
          <p:cNvSpPr txBox="1"/>
          <p:nvPr/>
        </p:nvSpPr>
        <p:spPr>
          <a:xfrm>
            <a:off x="1261110" y="2516505"/>
            <a:ext cx="6096000" cy="2399665"/>
          </a:xfrm>
          <a:prstGeom prst="rect">
            <a:avLst/>
          </a:prstGeom>
          <a:noFill/>
        </p:spPr>
        <p:txBody>
          <a:bodyPr wrap="square" rtlCol="0" anchor="t">
            <a:spAutoFit/>
          </a:bodyPr>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1. Nhiệm vụ</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2. Cấu Tạo</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3. Nguyên lí làm việc</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8" name="Picture 7"/>
          <p:cNvPicPr/>
          <p:nvPr/>
        </p:nvPicPr>
        <p:blipFill>
          <a:blip r:embed="rId1"/>
          <a:stretch>
            <a:fillRect/>
          </a:stretch>
        </p:blipFill>
        <p:spPr>
          <a:xfrm>
            <a:off x="0" y="0"/>
            <a:ext cx="12191365" cy="6858635"/>
          </a:xfrm>
          <a:prstGeom prst="rect">
            <a:avLst/>
          </a:prstGeom>
        </p:spPr>
      </p:pic>
      <p:sp>
        <p:nvSpPr>
          <p:cNvPr id="10" name="Text Box 9"/>
          <p:cNvSpPr txBox="1"/>
          <p:nvPr/>
        </p:nvSpPr>
        <p:spPr>
          <a:xfrm>
            <a:off x="992505" y="871220"/>
            <a:ext cx="10347960" cy="4787265"/>
          </a:xfrm>
          <a:prstGeom prst="rect">
            <a:avLst/>
          </a:prstGeom>
          <a:noFill/>
        </p:spPr>
        <p:txBody>
          <a:bodyPr wrap="square" rtlCol="0">
            <a:noAutofit/>
          </a:bodyPr>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rPr>
              <a:t>1. Nhiệm vụ</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-Truyền lực chính có nhiệm vụ truyền mômen giữa hai trục vuông góc với nhau (trục các đăng và bán trục), giảm số vòng quay và tăng mômen quay cho bán trục.</a:t>
            </a:r>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-Bộ vi sai có nhiệm vụ phân phối mômen cho hai bán trục của hai bánh xe chủ động, cho phép hai bánh xe quay với tốc độ khác nhau khi ô tô quay vòng hoặc đi trên đường không bằng phẳng.</a:t>
            </a:r>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-Bán trục có nhiệm vụ truyền mômen từ bánh răng bán trục của vi sai đến bánh xe.</a:t>
            </a:r>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amond(in)">
                                      <p:cBhvr>
                                        <p:cTn id="7" dur="2000"/>
                                        <p:tgtEl>
                                          <p:spTgt spid="10">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diamond(in)">
                                      <p:cBhvr>
                                        <p:cTn id="10" dur="2000"/>
                                        <p:tgtEl>
                                          <p:spTgt spid="10">
                                            <p:txEl>
                                              <p:pRg st="1" end="1"/>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diamond(in)">
                                      <p:cBhvr>
                                        <p:cTn id="13" dur="2000"/>
                                        <p:tgtEl>
                                          <p:spTgt spid="10">
                                            <p:txEl>
                                              <p:pRg st="2" end="2"/>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diamond(in)">
                                      <p:cBhvr>
                                        <p:cTn id="16" dur="20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8" name="Picture 7"/>
          <p:cNvPicPr/>
          <p:nvPr/>
        </p:nvPicPr>
        <p:blipFill>
          <a:blip r:embed="rId1"/>
          <a:stretch>
            <a:fillRect/>
          </a:stretch>
        </p:blipFill>
        <p:spPr>
          <a:xfrm>
            <a:off x="0" y="0"/>
            <a:ext cx="12191365" cy="6858635"/>
          </a:xfrm>
          <a:prstGeom prst="rect">
            <a:avLst/>
          </a:prstGeom>
        </p:spPr>
      </p:pic>
      <p:sp>
        <p:nvSpPr>
          <p:cNvPr id="10" name="Text Box 9"/>
          <p:cNvSpPr txBox="1"/>
          <p:nvPr/>
        </p:nvSpPr>
        <p:spPr>
          <a:xfrm>
            <a:off x="992505" y="871220"/>
            <a:ext cx="10347960" cy="4787265"/>
          </a:xfrm>
          <a:prstGeom prst="rect">
            <a:avLst/>
          </a:prstGeom>
          <a:noFill/>
        </p:spPr>
        <p:txBody>
          <a:bodyPr wrap="square" rtlCol="0">
            <a:noAutofit/>
          </a:bodyPr>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2. Cấu Tạo</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endParaRPr>
          </a:p>
          <a:p>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-Truyền lực chính có cấu tạo gồm hai bánh r</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ng côn </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 khớp với nhau.Trục của bánh r</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ng chủ </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đ</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ộng (1) nối với mặt bích của trục các </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đă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ng, bánh r</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ng bị </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đ</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ộng (2) gắn với bộ vi sai. Bộ vi sai có cấu tạo gồm các bánh r</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ng vi sai (3), bánh r</a:t>
            </a:r>
            <a:r>
              <a:rPr lang="" altLang="en-US" sz="3300">
                <a:effectLst>
                  <a:outerShdw blurRad="38100" dist="38100" dir="2700000" algn="tl">
                    <a:srgbClr val="000000">
                      <a:alpha val="43137"/>
                    </a:srgbClr>
                  </a:outerShdw>
                </a:effectLst>
                <a:latin typeface="Bahnschrift" panose="020B0502040204020203" charset="0"/>
                <a:cs typeface="Bahnschrift" panose="020B0502040204020203" charset="0"/>
              </a:rPr>
              <a:t>ă</a:t>
            </a:r>
            <a:r>
              <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rPr>
              <a:t>ng bán trục (4), trục vi sai (6), vỏ vi sai (7),...</a:t>
            </a:r>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pic>
        <p:nvPicPr>
          <p:cNvPr id="8" name="Picture 7"/>
          <p:cNvPicPr/>
          <p:nvPr/>
        </p:nvPicPr>
        <p:blipFill>
          <a:blip r:embed="rId1"/>
          <a:stretch>
            <a:fillRect/>
          </a:stretch>
        </p:blipFill>
        <p:spPr>
          <a:xfrm>
            <a:off x="0" y="0"/>
            <a:ext cx="12191365" cy="6858635"/>
          </a:xfrm>
          <a:prstGeom prst="rect">
            <a:avLst/>
          </a:prstGeom>
        </p:spPr>
      </p:pic>
      <p:sp>
        <p:nvSpPr>
          <p:cNvPr id="10" name="Text Box 9"/>
          <p:cNvSpPr txBox="1"/>
          <p:nvPr/>
        </p:nvSpPr>
        <p:spPr>
          <a:xfrm>
            <a:off x="992505" y="572135"/>
            <a:ext cx="4916805" cy="4787265"/>
          </a:xfrm>
          <a:prstGeom prst="rect">
            <a:avLst/>
          </a:prstGeom>
          <a:noFill/>
        </p:spPr>
        <p:txBody>
          <a:bodyPr wrap="square" rtlCol="0">
            <a:noAutofit/>
          </a:bodyPr>
          <a:p>
            <a:r>
              <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rPr>
              <a:t>2. Cấu Tạo</a:t>
            </a:r>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sym typeface="+mn-ea"/>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-Truyền lực chính có cấu tạo gồm hai bánh răng côn ă</a:t>
            </a:r>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n khớp với nhau.Trục của bánh răng chủ động </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(1) Nối với mặt bích của trục các đăng, bánh răng bị động </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(2) Gắn với bộ vi sai. Bộ vi sai có cấu tạo gồm các bánh răng vi sai (3) Bánh răng bán trục </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(4) Trục vi sai </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(5) Bán trục phải</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(6) Vỏ vi sai </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r>
              <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rPr>
              <a:t>(7),...</a:t>
            </a:r>
            <a:endParaRPr lang="en-US" altLang="en-US" sz="25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5000">
              <a:effectLst>
                <a:outerShdw blurRad="38100" dist="38100" dir="2700000" algn="tl">
                  <a:srgbClr val="000000">
                    <a:alpha val="43137"/>
                  </a:srgbClr>
                </a:outerShdw>
              </a:effectLst>
              <a:latin typeface="Bahnschrift" panose="020B0502040204020203" charset="0"/>
              <a:cs typeface="Bahnschrift" panose="020B0502040204020203" charset="0"/>
            </a:endParaRPr>
          </a:p>
          <a:p>
            <a:endParaRPr lang="en-US" altLang="en-US" sz="3300">
              <a:effectLst>
                <a:outerShdw blurRad="38100" dist="38100" dir="2700000" algn="tl">
                  <a:srgbClr val="000000">
                    <a:alpha val="43137"/>
                  </a:srgbClr>
                </a:outerShdw>
              </a:effectLst>
              <a:latin typeface="Bahnschrift" panose="020B0502040204020203" charset="0"/>
              <a:cs typeface="Bahnschrift" panose="020B0502040204020203" charset="0"/>
            </a:endParaRPr>
          </a:p>
        </p:txBody>
      </p:sp>
      <p:pic>
        <p:nvPicPr>
          <p:cNvPr id="4" name="Picture 3"/>
          <p:cNvPicPr>
            <a:picLocks noChangeAspect="1"/>
          </p:cNvPicPr>
          <p:nvPr/>
        </p:nvPicPr>
        <p:blipFill>
          <a:blip r:embed="rId2"/>
          <a:stretch>
            <a:fillRect/>
          </a:stretch>
        </p:blipFill>
        <p:spPr>
          <a:xfrm>
            <a:off x="6309360" y="1448435"/>
            <a:ext cx="5426075" cy="3355340"/>
          </a:xfrm>
          <a:prstGeom prst="rect">
            <a:avLst/>
          </a:prstGeom>
          <a:effectLst>
            <a:outerShdw blurRad="50800" dist="38100" dir="2700000" algn="tl" rotWithShape="0">
              <a:prstClr val="black">
                <a:alpha val="40000"/>
              </a:prstClr>
            </a:outerShdw>
            <a:reflection blurRad="114300" stA="45000" endPos="65000" dist="50800" dir="5400000" sy="-100000" algn="bl" rotWithShape="0"/>
            <a:softEdge rad="127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1384</Words>
  <Application>WPS Slides</Application>
  <PresentationFormat>Widescreen</PresentationFormat>
  <Paragraphs>51</Paragraphs>
  <Slides>12</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12</vt:i4>
      </vt:variant>
    </vt:vector>
  </HeadingPairs>
  <TitlesOfParts>
    <vt:vector size="28" baseType="lpstr">
      <vt:lpstr>Arial</vt:lpstr>
      <vt:lpstr>SimSun</vt:lpstr>
      <vt:lpstr>Wingdings</vt:lpstr>
      <vt:lpstr>Calibri Light</vt:lpstr>
      <vt:lpstr>Calibri</vt:lpstr>
      <vt:lpstr>Microsoft YaHei</vt:lpstr>
      <vt:lpstr>Arial Unicode MS</vt:lpstr>
      <vt:lpstr>1FTV VIP Komika Axis</vt:lpstr>
      <vt:lpstr>Mali</vt:lpstr>
      <vt:lpstr>Arial Black</vt:lpstr>
      <vt:lpstr>Mali SemiBold</vt:lpstr>
      <vt:lpstr>Bahnschrift Condensed</vt:lpstr>
      <vt:lpstr>Bahnschrift</vt:lpstr>
      <vt:lpstr>Tahoma</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Nhung Le</cp:lastModifiedBy>
  <cp:revision>1</cp:revision>
  <dcterms:created xsi:type="dcterms:W3CDTF">2025-04-21T18:13:12Z</dcterms:created>
  <dcterms:modified xsi:type="dcterms:W3CDTF">2025-04-21T18:13:12Z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19CF587C00BB479680B21658235DCA57_11</vt:lpwstr>
  </property>
  <property fmtid="{D5CDD505-2E9C-101B-9397-08002B2CF9AE}" pid="3" name="KSOProductBuildVer">
    <vt:lpwstr>1033-12.2.0.20795</vt:lpwstr>
  </property>
</Properties>
</file>